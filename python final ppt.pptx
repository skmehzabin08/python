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0" r:id="rId9"/>
    <p:sldId id="264" r:id="rId10"/>
    <p:sldId id="271" r:id="rId11"/>
    <p:sldId id="268" r:id="rId12"/>
    <p:sldId id="272" r:id="rId13"/>
    <p:sldId id="273" r:id="rId14"/>
    <p:sldId id="274" r:id="rId15"/>
    <p:sldId id="275" r:id="rId16"/>
    <p:sldId id="276" r:id="rId17"/>
    <p:sldId id="27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1267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6304" y="146304"/>
            <a:ext cx="8851392" cy="6510528"/>
          </a:xfrm>
          <a:prstGeom prst="rect">
            <a:avLst/>
          </a:prstGeom>
          <a:noFill/>
          <a:ln w="8890">
            <a:solidFill>
              <a:srgbClr val="8BB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46304" y="6400800"/>
            <a:ext cx="8851392" cy="256032"/>
          </a:xfrm>
          <a:prstGeom prst="rect">
            <a:avLst/>
          </a:prstGeom>
          <a:solidFill>
            <a:srgbClr val="8BB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6419088"/>
            <a:ext cx="8046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FFFFFF"/>
                </a:solidFill>
                <a:latin typeface="Arial"/>
              </a:defRPr>
            </a:pPr>
            <a:r>
              <a:t>S. B. Jain Institute of Technology Management 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0000"/>
                </a:solidFill>
                <a:latin typeface="Times New Roman"/>
              </a:defRPr>
            </a:pPr>
            <a:r>
              <a:t>Experiential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0000"/>
                </a:solidFill>
                <a:latin typeface="Times New Roman"/>
              </a:defRPr>
            </a:pPr>
            <a:r>
              <a:t>Project Assessment-I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0000"/>
                </a:solidFill>
                <a:latin typeface="Times New Roman"/>
              </a:defRPr>
            </a:pPr>
            <a:r>
              <a:t>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000000"/>
                </a:solidFill>
                <a:latin typeface="Times New Roman"/>
              </a:defRPr>
            </a:pPr>
            <a:r>
              <a:t>“File Encryption/Decryption Tool”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56231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00FF"/>
                </a:solidFill>
                <a:latin typeface="Times New Roman"/>
              </a:defRPr>
            </a:pPr>
            <a:r>
              <a:t>under the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67128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00FF"/>
                </a:solidFill>
                <a:latin typeface="Times New Roman"/>
              </a:defRPr>
            </a:pPr>
            <a:r>
              <a:t>Python Programming Language (N-PCCCM304P)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78608"/>
            <a:ext cx="2154116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latin typeface="Times New Roman"/>
              </a:defRPr>
            </a:pPr>
            <a:r>
              <a:rPr dirty="0"/>
              <a:t>Presented By:</a:t>
            </a:r>
          </a:p>
          <a:p>
            <a:pPr>
              <a:defRPr sz="1600" b="1">
                <a:latin typeface="Times New Roman"/>
              </a:defRPr>
            </a:pPr>
            <a:r>
              <a:rPr dirty="0"/>
              <a:t>MEHZABIN</a:t>
            </a:r>
            <a:endParaRPr lang="en-US" dirty="0"/>
          </a:p>
          <a:p>
            <a:pPr>
              <a:defRPr sz="1600" b="1">
                <a:latin typeface="Times New Roman"/>
              </a:defRPr>
            </a:pPr>
            <a:r>
              <a:rPr dirty="0"/>
              <a:t>HABIB CHHAWARE</a:t>
            </a:r>
          </a:p>
          <a:p>
            <a:pPr>
              <a:defRPr sz="1600" b="1">
                <a:latin typeface="Times New Roman"/>
              </a:defRPr>
            </a:pPr>
            <a:r>
              <a:rPr dirty="0"/>
              <a:t>CM25028</a:t>
            </a:r>
          </a:p>
        </p:txBody>
      </p:sp>
      <p:pic>
        <p:nvPicPr>
          <p:cNvPr id="12" name="Picture 1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2191" y="2514600"/>
            <a:ext cx="1143000" cy="8686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29643" y="2578608"/>
            <a:ext cx="2068195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latin typeface="Times New Roman"/>
              </a:defRPr>
            </a:pPr>
            <a:r>
              <a:rPr dirty="0"/>
              <a:t>Under the Guidance</a:t>
            </a:r>
          </a:p>
          <a:p>
            <a:pPr algn="ctr">
              <a:defRPr sz="1600" b="1">
                <a:latin typeface="Times New Roman"/>
              </a:defRPr>
            </a:pPr>
            <a:r>
              <a:rPr dirty="0"/>
              <a:t>of</a:t>
            </a:r>
          </a:p>
          <a:p>
            <a:pPr algn="ctr">
              <a:defRPr sz="1600" b="1">
                <a:latin typeface="Times New Roman"/>
              </a:defRPr>
            </a:pPr>
            <a:r>
              <a:rPr lang="en-US" dirty="0" err="1"/>
              <a:t>Ms.Suchita</a:t>
            </a:r>
            <a:r>
              <a:rPr lang="en-US" dirty="0"/>
              <a:t> Meshram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457200" y="3456432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0000"/>
                </a:solidFill>
                <a:latin typeface="Times New Roman"/>
              </a:defRPr>
            </a:pPr>
            <a:r>
              <a:t>Session:2026-27 (ODD 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85855" y="3749039"/>
            <a:ext cx="297228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0000"/>
                </a:solidFill>
                <a:latin typeface="Times New Roman"/>
              </a:defRPr>
            </a:pPr>
            <a:r>
              <a:rPr dirty="0"/>
              <a:t>Department of CSE(AI&amp;ML)</a:t>
            </a:r>
            <a:r>
              <a:rPr lang="en-US" dirty="0"/>
              <a:t> B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457200" y="4096512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Times New Roman"/>
              </a:defRPr>
            </a:pPr>
            <a:r>
              <a:t>S. B. JAIN INSTITUTE OF TECHNOLOGY MANAGEMENT 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352544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Times New Roman"/>
              </a:defRPr>
            </a:pPr>
            <a:r>
              <a:t>RESEARCH,NAGPUR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61772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0000"/>
                </a:solidFill>
                <a:latin typeface="Times New Roman"/>
              </a:defRPr>
            </a:pPr>
            <a:r>
              <a:t>An Autonomous Institute, Affiliated to RTMNU, Nagpur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6304" y="146304"/>
            <a:ext cx="8851392" cy="6510528"/>
          </a:xfrm>
          <a:prstGeom prst="rect">
            <a:avLst/>
          </a:prstGeom>
          <a:noFill/>
          <a:ln w="8890">
            <a:solidFill>
              <a:srgbClr val="8BB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46304" y="6400800"/>
            <a:ext cx="8851392" cy="256032"/>
          </a:xfrm>
          <a:prstGeom prst="rect">
            <a:avLst/>
          </a:prstGeom>
          <a:solidFill>
            <a:srgbClr val="8BB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6419088"/>
            <a:ext cx="8046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FFFFFF"/>
                </a:solidFill>
                <a:latin typeface="Arial"/>
              </a:defRPr>
            </a:pPr>
            <a:r>
              <a:t>S. B. Jain Institute of Technology Management 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65760"/>
            <a:ext cx="143340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00000"/>
                </a:solidFill>
                <a:latin typeface="Arial"/>
              </a:defRPr>
            </a:pPr>
            <a:r>
              <a:rPr sz="2000" dirty="0"/>
              <a:t>Contents</a:t>
            </a:r>
            <a:r>
              <a:rPr lang="en-US" sz="3200" dirty="0"/>
              <a:t>:</a:t>
            </a:r>
            <a:endParaRPr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484632" y="1710321"/>
            <a:ext cx="758952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50">
                <a:solidFill>
                  <a:srgbClr val="000000"/>
                </a:solidFill>
                <a:latin typeface="Arial"/>
              </a:defRPr>
            </a:pPr>
            <a:r>
              <a:rPr dirty="0"/>
              <a:t>• Problem statement</a:t>
            </a:r>
            <a:endParaRPr lang="en-IN" dirty="0"/>
          </a:p>
          <a:p>
            <a:pPr>
              <a:spcAft>
                <a:spcPts val="600"/>
              </a:spcAft>
              <a:defRPr sz="1450">
                <a:solidFill>
                  <a:srgbClr val="000000"/>
                </a:solidFill>
                <a:latin typeface="Arial"/>
              </a:defRPr>
            </a:pPr>
            <a:endParaRPr dirty="0"/>
          </a:p>
          <a:p>
            <a:pPr>
              <a:spcAft>
                <a:spcPts val="600"/>
              </a:spcAft>
              <a:defRPr sz="1450">
                <a:solidFill>
                  <a:srgbClr val="000000"/>
                </a:solidFill>
                <a:latin typeface="Arial"/>
              </a:defRPr>
            </a:pPr>
            <a:r>
              <a:rPr dirty="0"/>
              <a:t>• Objectives</a:t>
            </a:r>
            <a:endParaRPr lang="en-IN" dirty="0"/>
          </a:p>
          <a:p>
            <a:pPr>
              <a:spcAft>
                <a:spcPts val="600"/>
              </a:spcAft>
              <a:defRPr sz="1450">
                <a:solidFill>
                  <a:srgbClr val="000000"/>
                </a:solidFill>
                <a:latin typeface="Arial"/>
              </a:defRPr>
            </a:pPr>
            <a:endParaRPr dirty="0"/>
          </a:p>
          <a:p>
            <a:pPr>
              <a:spcAft>
                <a:spcPts val="600"/>
              </a:spcAft>
              <a:defRPr sz="1450">
                <a:solidFill>
                  <a:srgbClr val="000000"/>
                </a:solidFill>
                <a:latin typeface="Arial"/>
              </a:defRPr>
            </a:pPr>
            <a:r>
              <a:rPr dirty="0"/>
              <a:t>• Algorithm</a:t>
            </a:r>
            <a:endParaRPr lang="en-IN" dirty="0"/>
          </a:p>
          <a:p>
            <a:pPr>
              <a:spcAft>
                <a:spcPts val="600"/>
              </a:spcAft>
              <a:defRPr sz="1450">
                <a:solidFill>
                  <a:srgbClr val="000000"/>
                </a:solidFill>
                <a:latin typeface="Arial"/>
              </a:defRPr>
            </a:pPr>
            <a:endParaRPr dirty="0"/>
          </a:p>
          <a:p>
            <a:pPr>
              <a:spcAft>
                <a:spcPts val="600"/>
              </a:spcAft>
              <a:defRPr sz="1450">
                <a:solidFill>
                  <a:srgbClr val="000000"/>
                </a:solidFill>
                <a:latin typeface="Arial"/>
              </a:defRPr>
            </a:pPr>
            <a:r>
              <a:rPr dirty="0"/>
              <a:t>• Flowchart/pseudocode</a:t>
            </a:r>
            <a:endParaRPr lang="en-IN" dirty="0"/>
          </a:p>
          <a:p>
            <a:pPr>
              <a:spcAft>
                <a:spcPts val="600"/>
              </a:spcAft>
              <a:defRPr sz="1450">
                <a:solidFill>
                  <a:srgbClr val="000000"/>
                </a:solidFill>
                <a:latin typeface="Arial"/>
              </a:defRPr>
            </a:pPr>
            <a:endParaRPr dirty="0"/>
          </a:p>
          <a:p>
            <a:pPr>
              <a:spcAft>
                <a:spcPts val="600"/>
              </a:spcAft>
              <a:defRPr sz="1450">
                <a:solidFill>
                  <a:srgbClr val="000000"/>
                </a:solidFill>
                <a:latin typeface="Arial"/>
              </a:defRPr>
            </a:pPr>
            <a:r>
              <a:rPr dirty="0"/>
              <a:t>• Understanding of Python logic</a:t>
            </a:r>
            <a:endParaRPr lang="en-IN" dirty="0"/>
          </a:p>
          <a:p>
            <a:pPr>
              <a:spcAft>
                <a:spcPts val="600"/>
              </a:spcAft>
              <a:defRPr sz="1450">
                <a:solidFill>
                  <a:srgbClr val="000000"/>
                </a:solidFill>
                <a:latin typeface="Arial"/>
              </a:defRPr>
            </a:pPr>
            <a:endParaRPr dirty="0"/>
          </a:p>
          <a:p>
            <a:pPr>
              <a:spcAft>
                <a:spcPts val="600"/>
              </a:spcAft>
              <a:defRPr sz="1450">
                <a:solidFill>
                  <a:srgbClr val="000000"/>
                </a:solidFill>
                <a:latin typeface="Arial"/>
              </a:defRPr>
            </a:pPr>
            <a:r>
              <a:rPr dirty="0"/>
              <a:t>• GitHub account, repository creation, uploading code, meaningful commits, collaboration, individual contribution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6304" y="146304"/>
            <a:ext cx="8851392" cy="6510528"/>
          </a:xfrm>
          <a:prstGeom prst="rect">
            <a:avLst/>
          </a:prstGeom>
          <a:noFill/>
          <a:ln w="8890">
            <a:solidFill>
              <a:srgbClr val="8BB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46304" y="6400800"/>
            <a:ext cx="8851392" cy="256032"/>
          </a:xfrm>
          <a:prstGeom prst="rect">
            <a:avLst/>
          </a:prstGeom>
          <a:solidFill>
            <a:srgbClr val="8BB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6419088"/>
            <a:ext cx="8046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FFFFFF"/>
                </a:solidFill>
                <a:latin typeface="Arial"/>
              </a:defRPr>
            </a:pPr>
            <a:r>
              <a:t>S. B. Jain Institute of Technology Management 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65760"/>
            <a:ext cx="2991525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00000"/>
                </a:solidFill>
                <a:latin typeface="Arial"/>
              </a:defRPr>
            </a:pPr>
            <a:r>
              <a:rPr sz="2000" dirty="0"/>
              <a:t>1. Problem Statement</a:t>
            </a:r>
            <a:r>
              <a:rPr lang="en-US" sz="4400" dirty="0"/>
              <a:t>:</a:t>
            </a:r>
            <a:endParaRPr sz="4400" dirty="0"/>
          </a:p>
        </p:txBody>
      </p:sp>
      <p:sp>
        <p:nvSpPr>
          <p:cNvPr id="6" name="TextBox 5"/>
          <p:cNvSpPr txBox="1"/>
          <p:nvPr/>
        </p:nvSpPr>
        <p:spPr>
          <a:xfrm>
            <a:off x="594360" y="1900084"/>
            <a:ext cx="7589520" cy="4139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50">
                <a:solidFill>
                  <a:srgbClr val="000000"/>
                </a:solidFill>
                <a:latin typeface="Arial"/>
              </a:defRPr>
            </a:pPr>
            <a:r>
              <a:rPr dirty="0"/>
              <a:t>• Important files may contain confidential or sensitive information.</a:t>
            </a:r>
            <a:endParaRPr lang="en-IN" dirty="0"/>
          </a:p>
          <a:p>
            <a:pPr>
              <a:spcAft>
                <a:spcPts val="600"/>
              </a:spcAft>
              <a:defRPr sz="1450">
                <a:solidFill>
                  <a:srgbClr val="000000"/>
                </a:solidFill>
                <a:latin typeface="Arial"/>
              </a:defRPr>
            </a:pPr>
            <a:endParaRPr dirty="0"/>
          </a:p>
          <a:p>
            <a:pPr>
              <a:spcAft>
                <a:spcPts val="600"/>
              </a:spcAft>
              <a:defRPr sz="1450">
                <a:solidFill>
                  <a:srgbClr val="000000"/>
                </a:solidFill>
                <a:latin typeface="Arial"/>
              </a:defRPr>
            </a:pPr>
            <a:r>
              <a:rPr dirty="0"/>
              <a:t>• Storing files in plain text can make their contents accessible to unauthorized users.</a:t>
            </a:r>
            <a:endParaRPr lang="en-IN" dirty="0"/>
          </a:p>
          <a:p>
            <a:pPr>
              <a:spcAft>
                <a:spcPts val="600"/>
              </a:spcAft>
              <a:defRPr sz="1450">
                <a:solidFill>
                  <a:srgbClr val="000000"/>
                </a:solidFill>
                <a:latin typeface="Arial"/>
              </a:defRPr>
            </a:pPr>
            <a:endParaRPr dirty="0"/>
          </a:p>
          <a:p>
            <a:pPr>
              <a:spcAft>
                <a:spcPts val="600"/>
              </a:spcAft>
              <a:defRPr sz="1450">
                <a:solidFill>
                  <a:srgbClr val="000000"/>
                </a:solidFill>
                <a:latin typeface="Arial"/>
              </a:defRPr>
            </a:pPr>
            <a:r>
              <a:rPr dirty="0"/>
              <a:t>• There is a need for a simple method to protect files using encryption.</a:t>
            </a:r>
            <a:endParaRPr lang="en-IN" dirty="0"/>
          </a:p>
          <a:p>
            <a:pPr>
              <a:spcAft>
                <a:spcPts val="600"/>
              </a:spcAft>
              <a:defRPr sz="1450">
                <a:solidFill>
                  <a:srgbClr val="000000"/>
                </a:solidFill>
                <a:latin typeface="Arial"/>
              </a:defRPr>
            </a:pPr>
            <a:endParaRPr dirty="0"/>
          </a:p>
          <a:p>
            <a:pPr>
              <a:spcAft>
                <a:spcPts val="600"/>
              </a:spcAft>
              <a:defRPr sz="1450">
                <a:solidFill>
                  <a:srgbClr val="000000"/>
                </a:solidFill>
                <a:latin typeface="Arial"/>
              </a:defRPr>
            </a:pPr>
            <a:r>
              <a:rPr dirty="0"/>
              <a:t>• The project converts the original file into an unreadable encrypted format.</a:t>
            </a:r>
            <a:endParaRPr lang="en-IN" dirty="0"/>
          </a:p>
          <a:p>
            <a:pPr>
              <a:spcAft>
                <a:spcPts val="600"/>
              </a:spcAft>
              <a:defRPr sz="1450">
                <a:solidFill>
                  <a:srgbClr val="000000"/>
                </a:solidFill>
                <a:latin typeface="Arial"/>
              </a:defRPr>
            </a:pPr>
            <a:endParaRPr dirty="0"/>
          </a:p>
          <a:p>
            <a:pPr>
              <a:spcAft>
                <a:spcPts val="600"/>
              </a:spcAft>
              <a:defRPr sz="1450">
                <a:solidFill>
                  <a:srgbClr val="000000"/>
                </a:solidFill>
                <a:latin typeface="Arial"/>
              </a:defRPr>
            </a:pPr>
            <a:r>
              <a:rPr dirty="0"/>
              <a:t>• A secret key is required to encrypt and decrypt the file.</a:t>
            </a:r>
            <a:endParaRPr lang="en-IN" dirty="0"/>
          </a:p>
          <a:p>
            <a:pPr>
              <a:spcAft>
                <a:spcPts val="600"/>
              </a:spcAft>
              <a:defRPr sz="1450">
                <a:solidFill>
                  <a:srgbClr val="000000"/>
                </a:solidFill>
                <a:latin typeface="Arial"/>
              </a:defRPr>
            </a:pPr>
            <a:endParaRPr dirty="0"/>
          </a:p>
          <a:p>
            <a:pPr>
              <a:spcAft>
                <a:spcPts val="600"/>
              </a:spcAft>
              <a:defRPr sz="1450">
                <a:solidFill>
                  <a:srgbClr val="000000"/>
                </a:solidFill>
                <a:latin typeface="Arial"/>
              </a:defRPr>
            </a:pPr>
            <a:r>
              <a:rPr dirty="0"/>
              <a:t>• Only a user with the correct key should be able to restore the original file.</a:t>
            </a:r>
            <a:endParaRPr lang="en-IN" dirty="0"/>
          </a:p>
          <a:p>
            <a:pPr>
              <a:spcAft>
                <a:spcPts val="600"/>
              </a:spcAft>
              <a:defRPr sz="1450">
                <a:solidFill>
                  <a:srgbClr val="000000"/>
                </a:solidFill>
                <a:latin typeface="Arial"/>
              </a:defRPr>
            </a:pPr>
            <a:endParaRPr dirty="0"/>
          </a:p>
          <a:p>
            <a:pPr>
              <a:spcAft>
                <a:spcPts val="600"/>
              </a:spcAft>
              <a:defRPr sz="1450">
                <a:solidFill>
                  <a:srgbClr val="000000"/>
                </a:solidFill>
                <a:latin typeface="Arial"/>
              </a:defRPr>
            </a:pPr>
            <a:r>
              <a:rPr dirty="0"/>
              <a:t>• The project demonstrates practical implementation of file security and encryption using </a:t>
            </a:r>
            <a:r>
              <a:rPr lang="en-IN" dirty="0"/>
              <a:t>         </a:t>
            </a:r>
            <a:r>
              <a:rPr dirty="0"/>
              <a:t>Python.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6304" y="146304"/>
            <a:ext cx="8851392" cy="6510528"/>
          </a:xfrm>
          <a:prstGeom prst="rect">
            <a:avLst/>
          </a:prstGeom>
          <a:noFill/>
          <a:ln w="8890">
            <a:solidFill>
              <a:srgbClr val="8BB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46304" y="6400800"/>
            <a:ext cx="8851392" cy="256032"/>
          </a:xfrm>
          <a:prstGeom prst="rect">
            <a:avLst/>
          </a:prstGeom>
          <a:solidFill>
            <a:srgbClr val="8BB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6419088"/>
            <a:ext cx="8046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FFFFFF"/>
                </a:solidFill>
                <a:latin typeface="Arial"/>
              </a:defRPr>
            </a:pPr>
            <a:r>
              <a:t>S. B. Jain Institute of Technology Management 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9802" y="365760"/>
            <a:ext cx="162095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00000"/>
                </a:solidFill>
                <a:latin typeface="Arial"/>
              </a:defRPr>
            </a:pPr>
            <a:r>
              <a:rPr sz="2000" dirty="0"/>
              <a:t>2. 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426129"/>
            <a:ext cx="8241932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50">
                <a:solidFill>
                  <a:srgbClr val="000000"/>
                </a:solidFill>
                <a:latin typeface="Arial"/>
              </a:defRPr>
            </a:pPr>
            <a:r>
              <a:rPr sz="1400" dirty="0"/>
              <a:t>• To develop a simple File Encryption and Decryption Tool using Python.</a:t>
            </a:r>
            <a:endParaRPr lang="en-IN" sz="1400" dirty="0"/>
          </a:p>
          <a:p>
            <a:pPr>
              <a:spcAft>
                <a:spcPts val="600"/>
              </a:spcAft>
              <a:defRPr sz="1450">
                <a:solidFill>
                  <a:srgbClr val="000000"/>
                </a:solidFill>
                <a:latin typeface="Arial"/>
              </a:defRPr>
            </a:pPr>
            <a:endParaRPr sz="1400" dirty="0"/>
          </a:p>
          <a:p>
            <a:pPr>
              <a:spcAft>
                <a:spcPts val="600"/>
              </a:spcAft>
              <a:defRPr sz="1450">
                <a:solidFill>
                  <a:srgbClr val="000000"/>
                </a:solidFill>
                <a:latin typeface="Arial"/>
              </a:defRPr>
            </a:pPr>
            <a:r>
              <a:rPr sz="1400" dirty="0"/>
              <a:t>• To protect files from unauthorized access.</a:t>
            </a:r>
            <a:endParaRPr lang="en-IN" sz="1400" dirty="0"/>
          </a:p>
          <a:p>
            <a:pPr>
              <a:spcAft>
                <a:spcPts val="600"/>
              </a:spcAft>
              <a:defRPr sz="1450">
                <a:solidFill>
                  <a:srgbClr val="000000"/>
                </a:solidFill>
                <a:latin typeface="Arial"/>
              </a:defRPr>
            </a:pPr>
            <a:endParaRPr sz="1400" dirty="0"/>
          </a:p>
          <a:p>
            <a:pPr>
              <a:spcAft>
                <a:spcPts val="600"/>
              </a:spcAft>
              <a:defRPr sz="1450">
                <a:solidFill>
                  <a:srgbClr val="000000"/>
                </a:solidFill>
                <a:latin typeface="Arial"/>
              </a:defRPr>
            </a:pPr>
            <a:r>
              <a:rPr sz="1400" dirty="0"/>
              <a:t>• To encrypt the contents of a selected file using a secret key.</a:t>
            </a:r>
            <a:endParaRPr lang="en-IN" sz="1400" dirty="0"/>
          </a:p>
          <a:p>
            <a:pPr>
              <a:spcAft>
                <a:spcPts val="600"/>
              </a:spcAft>
              <a:defRPr sz="1450">
                <a:solidFill>
                  <a:srgbClr val="000000"/>
                </a:solidFill>
                <a:latin typeface="Arial"/>
              </a:defRPr>
            </a:pPr>
            <a:endParaRPr sz="1400" dirty="0"/>
          </a:p>
          <a:p>
            <a:pPr>
              <a:spcAft>
                <a:spcPts val="600"/>
              </a:spcAft>
              <a:defRPr sz="1450">
                <a:solidFill>
                  <a:srgbClr val="000000"/>
                </a:solidFill>
                <a:latin typeface="Arial"/>
              </a:defRPr>
            </a:pPr>
            <a:r>
              <a:rPr sz="1400" dirty="0"/>
              <a:t>• To decrypt the encrypted file using the correct key.</a:t>
            </a:r>
            <a:endParaRPr lang="en-IN" sz="1400" dirty="0"/>
          </a:p>
          <a:p>
            <a:pPr>
              <a:spcAft>
                <a:spcPts val="600"/>
              </a:spcAft>
              <a:defRPr sz="1450">
                <a:solidFill>
                  <a:srgbClr val="000000"/>
                </a:solidFill>
                <a:latin typeface="Arial"/>
              </a:defRPr>
            </a:pPr>
            <a:endParaRPr sz="1400" dirty="0"/>
          </a:p>
          <a:p>
            <a:pPr>
              <a:spcAft>
                <a:spcPts val="600"/>
              </a:spcAft>
              <a:defRPr sz="1450">
                <a:solidFill>
                  <a:srgbClr val="000000"/>
                </a:solidFill>
                <a:latin typeface="Arial"/>
              </a:defRPr>
            </a:pPr>
            <a:r>
              <a:rPr sz="1400" dirty="0"/>
              <a:t>• To ensure that incorrect keys cannot successfully restore the original content</a:t>
            </a:r>
            <a:endParaRPr lang="en-IN" sz="1400" dirty="0"/>
          </a:p>
          <a:p>
            <a:pPr>
              <a:spcAft>
                <a:spcPts val="600"/>
              </a:spcAft>
              <a:defRPr sz="1450">
                <a:solidFill>
                  <a:srgbClr val="000000"/>
                </a:solidFill>
                <a:latin typeface="Arial"/>
              </a:defRPr>
            </a:pPr>
            <a:endParaRPr sz="1400" dirty="0"/>
          </a:p>
          <a:p>
            <a:pPr>
              <a:spcAft>
                <a:spcPts val="600"/>
              </a:spcAft>
              <a:defRPr sz="1450">
                <a:solidFill>
                  <a:srgbClr val="000000"/>
                </a:solidFill>
                <a:latin typeface="Arial"/>
              </a:defRPr>
            </a:pPr>
            <a:r>
              <a:rPr sz="1400" dirty="0"/>
              <a:t>• To understand the practical use of cryptography in Python.</a:t>
            </a:r>
            <a:endParaRPr lang="en-IN" sz="1400" dirty="0"/>
          </a:p>
          <a:p>
            <a:pPr>
              <a:spcAft>
                <a:spcPts val="600"/>
              </a:spcAft>
              <a:defRPr sz="1450">
                <a:solidFill>
                  <a:srgbClr val="000000"/>
                </a:solidFill>
                <a:latin typeface="Arial"/>
              </a:defRPr>
            </a:pPr>
            <a:endParaRPr sz="1400" dirty="0"/>
          </a:p>
          <a:p>
            <a:pPr>
              <a:spcAft>
                <a:spcPts val="600"/>
              </a:spcAft>
              <a:defRPr sz="1450">
                <a:solidFill>
                  <a:srgbClr val="000000"/>
                </a:solidFill>
                <a:latin typeface="Arial"/>
              </a:defRPr>
            </a:pPr>
            <a:r>
              <a:rPr sz="1400" dirty="0"/>
              <a:t>• To implement file handling, encryption, decryption and key management.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6304" y="146304"/>
            <a:ext cx="8851392" cy="6510528"/>
          </a:xfrm>
          <a:prstGeom prst="rect">
            <a:avLst/>
          </a:prstGeom>
          <a:noFill/>
          <a:ln w="8890">
            <a:solidFill>
              <a:srgbClr val="8BB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46304" y="6400800"/>
            <a:ext cx="8851392" cy="256032"/>
          </a:xfrm>
          <a:prstGeom prst="rect">
            <a:avLst/>
          </a:prstGeom>
          <a:solidFill>
            <a:srgbClr val="8BB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6419088"/>
            <a:ext cx="8046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FFFFFF"/>
                </a:solidFill>
                <a:latin typeface="Arial"/>
              </a:defRPr>
            </a:pPr>
            <a:r>
              <a:t>S. B. Jain Institute of Technology Management 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00000"/>
                </a:solidFill>
                <a:latin typeface="Arial"/>
              </a:defRPr>
            </a:pPr>
            <a:r>
              <a:rPr dirty="0"/>
              <a:t>3. Algorithm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9972" y="1113855"/>
            <a:ext cx="6574284" cy="47551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70">
                <a:solidFill>
                  <a:srgbClr val="000000"/>
                </a:solidFill>
                <a:latin typeface="Arial"/>
              </a:defRPr>
            </a:pPr>
            <a:r>
              <a:rPr sz="1200" dirty="0"/>
              <a:t>1. Start the program.</a:t>
            </a:r>
            <a:endParaRPr lang="en-IN" sz="1200" dirty="0"/>
          </a:p>
          <a:p>
            <a:pPr>
              <a:spcAft>
                <a:spcPts val="500"/>
              </a:spcAft>
              <a:defRPr sz="1370">
                <a:solidFill>
                  <a:srgbClr val="000000"/>
                </a:solidFill>
                <a:latin typeface="Arial"/>
              </a:defRPr>
            </a:pPr>
            <a:endParaRPr sz="1200" dirty="0"/>
          </a:p>
          <a:p>
            <a:pPr>
              <a:spcAft>
                <a:spcPts val="500"/>
              </a:spcAft>
              <a:defRPr sz="1370">
                <a:solidFill>
                  <a:srgbClr val="000000"/>
                </a:solidFill>
                <a:latin typeface="Arial"/>
              </a:defRPr>
            </a:pPr>
            <a:r>
              <a:rPr sz="1200" dirty="0"/>
              <a:t>2. Select the required operation: Encryption or Decryption.</a:t>
            </a:r>
            <a:endParaRPr lang="en-IN" sz="1200" dirty="0"/>
          </a:p>
          <a:p>
            <a:pPr>
              <a:spcAft>
                <a:spcPts val="500"/>
              </a:spcAft>
              <a:defRPr sz="1370">
                <a:solidFill>
                  <a:srgbClr val="000000"/>
                </a:solidFill>
                <a:latin typeface="Arial"/>
              </a:defRPr>
            </a:pPr>
            <a:endParaRPr sz="1200" dirty="0"/>
          </a:p>
          <a:p>
            <a:pPr>
              <a:spcAft>
                <a:spcPts val="500"/>
              </a:spcAft>
              <a:defRPr sz="1370">
                <a:solidFill>
                  <a:srgbClr val="000000"/>
                </a:solidFill>
                <a:latin typeface="Arial"/>
              </a:defRPr>
            </a:pPr>
            <a:r>
              <a:rPr sz="1200" dirty="0"/>
              <a:t>3. Enter the file name/path.</a:t>
            </a:r>
            <a:endParaRPr lang="en-IN" sz="1200" dirty="0"/>
          </a:p>
          <a:p>
            <a:pPr>
              <a:spcAft>
                <a:spcPts val="500"/>
              </a:spcAft>
              <a:defRPr sz="1370">
                <a:solidFill>
                  <a:srgbClr val="000000"/>
                </a:solidFill>
                <a:latin typeface="Arial"/>
              </a:defRPr>
            </a:pPr>
            <a:endParaRPr sz="1200" dirty="0"/>
          </a:p>
          <a:p>
            <a:pPr>
              <a:spcAft>
                <a:spcPts val="500"/>
              </a:spcAft>
              <a:defRPr sz="1370">
                <a:solidFill>
                  <a:srgbClr val="000000"/>
                </a:solidFill>
                <a:latin typeface="Arial"/>
              </a:defRPr>
            </a:pPr>
            <a:r>
              <a:rPr sz="1200" dirty="0"/>
              <a:t>4. Generate or load the secret key.</a:t>
            </a:r>
            <a:endParaRPr lang="en-IN" sz="1200" dirty="0"/>
          </a:p>
          <a:p>
            <a:pPr>
              <a:spcAft>
                <a:spcPts val="500"/>
              </a:spcAft>
              <a:defRPr sz="1370">
                <a:solidFill>
                  <a:srgbClr val="000000"/>
                </a:solidFill>
                <a:latin typeface="Arial"/>
              </a:defRPr>
            </a:pPr>
            <a:endParaRPr sz="1200" dirty="0"/>
          </a:p>
          <a:p>
            <a:pPr>
              <a:spcAft>
                <a:spcPts val="500"/>
              </a:spcAft>
              <a:defRPr sz="1370">
                <a:solidFill>
                  <a:srgbClr val="000000"/>
                </a:solidFill>
                <a:latin typeface="Arial"/>
              </a:defRPr>
            </a:pPr>
            <a:r>
              <a:rPr sz="1200" dirty="0"/>
              <a:t>5. Read the contents of the file.</a:t>
            </a:r>
            <a:endParaRPr lang="en-IN" sz="1200" dirty="0"/>
          </a:p>
          <a:p>
            <a:pPr>
              <a:spcAft>
                <a:spcPts val="500"/>
              </a:spcAft>
              <a:defRPr sz="1370">
                <a:solidFill>
                  <a:srgbClr val="000000"/>
                </a:solidFill>
                <a:latin typeface="Arial"/>
              </a:defRPr>
            </a:pPr>
            <a:endParaRPr sz="1200" dirty="0"/>
          </a:p>
          <a:p>
            <a:pPr>
              <a:spcAft>
                <a:spcPts val="500"/>
              </a:spcAft>
              <a:defRPr sz="1370">
                <a:solidFill>
                  <a:srgbClr val="000000"/>
                </a:solidFill>
                <a:latin typeface="Arial"/>
              </a:defRPr>
            </a:pPr>
            <a:r>
              <a:rPr sz="1200" dirty="0"/>
              <a:t>6. For encryption, transform the original data into encrypted data using the key.</a:t>
            </a:r>
            <a:endParaRPr lang="en-IN" sz="1200" dirty="0"/>
          </a:p>
          <a:p>
            <a:pPr>
              <a:spcAft>
                <a:spcPts val="500"/>
              </a:spcAft>
              <a:defRPr sz="1370">
                <a:solidFill>
                  <a:srgbClr val="000000"/>
                </a:solidFill>
                <a:latin typeface="Arial"/>
              </a:defRPr>
            </a:pPr>
            <a:endParaRPr sz="1200" dirty="0"/>
          </a:p>
          <a:p>
            <a:pPr>
              <a:spcAft>
                <a:spcPts val="500"/>
              </a:spcAft>
              <a:defRPr sz="1370">
                <a:solidFill>
                  <a:srgbClr val="000000"/>
                </a:solidFill>
                <a:latin typeface="Arial"/>
              </a:defRPr>
            </a:pPr>
            <a:r>
              <a:rPr sz="1200" dirty="0"/>
              <a:t>7. Save the encrypted data into an output file.</a:t>
            </a:r>
            <a:endParaRPr lang="en-IN" sz="1200" dirty="0"/>
          </a:p>
          <a:p>
            <a:pPr>
              <a:spcAft>
                <a:spcPts val="500"/>
              </a:spcAft>
              <a:defRPr sz="1370">
                <a:solidFill>
                  <a:srgbClr val="000000"/>
                </a:solidFill>
                <a:latin typeface="Arial"/>
              </a:defRPr>
            </a:pPr>
            <a:endParaRPr sz="1200" dirty="0"/>
          </a:p>
          <a:p>
            <a:pPr>
              <a:spcAft>
                <a:spcPts val="500"/>
              </a:spcAft>
              <a:defRPr sz="1370">
                <a:solidFill>
                  <a:srgbClr val="000000"/>
                </a:solidFill>
                <a:latin typeface="Arial"/>
              </a:defRPr>
            </a:pPr>
            <a:r>
              <a:rPr sz="1200" dirty="0"/>
              <a:t>8. For decryption, read the encrypted file and use the correct key to restore the original data.</a:t>
            </a:r>
            <a:endParaRPr lang="en-IN" sz="1200" dirty="0"/>
          </a:p>
          <a:p>
            <a:pPr>
              <a:spcAft>
                <a:spcPts val="500"/>
              </a:spcAft>
              <a:defRPr sz="1370">
                <a:solidFill>
                  <a:srgbClr val="000000"/>
                </a:solidFill>
                <a:latin typeface="Arial"/>
              </a:defRPr>
            </a:pPr>
            <a:endParaRPr sz="1200" dirty="0"/>
          </a:p>
          <a:p>
            <a:pPr>
              <a:spcAft>
                <a:spcPts val="500"/>
              </a:spcAft>
              <a:defRPr sz="1370">
                <a:solidFill>
                  <a:srgbClr val="000000"/>
                </a:solidFill>
                <a:latin typeface="Arial"/>
              </a:defRPr>
            </a:pPr>
            <a:r>
              <a:rPr sz="1200" dirty="0"/>
              <a:t>9. Display the success or error message.</a:t>
            </a:r>
            <a:endParaRPr lang="en-IN" sz="1200" dirty="0"/>
          </a:p>
          <a:p>
            <a:pPr>
              <a:spcAft>
                <a:spcPts val="500"/>
              </a:spcAft>
              <a:defRPr sz="1370">
                <a:solidFill>
                  <a:srgbClr val="000000"/>
                </a:solidFill>
                <a:latin typeface="Arial"/>
              </a:defRPr>
            </a:pPr>
            <a:endParaRPr sz="1200" dirty="0"/>
          </a:p>
          <a:p>
            <a:pPr>
              <a:spcAft>
                <a:spcPts val="500"/>
              </a:spcAft>
              <a:defRPr sz="1370">
                <a:solidFill>
                  <a:srgbClr val="000000"/>
                </a:solidFill>
                <a:latin typeface="Arial"/>
              </a:defRPr>
            </a:pPr>
            <a:r>
              <a:rPr sz="1200" dirty="0"/>
              <a:t>10. Stop the program.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6304" y="146304"/>
            <a:ext cx="8851392" cy="6510528"/>
          </a:xfrm>
          <a:prstGeom prst="rect">
            <a:avLst/>
          </a:prstGeom>
          <a:noFill/>
          <a:ln w="8890">
            <a:solidFill>
              <a:srgbClr val="8BB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46304" y="6400800"/>
            <a:ext cx="8851392" cy="256032"/>
          </a:xfrm>
          <a:prstGeom prst="rect">
            <a:avLst/>
          </a:prstGeom>
          <a:solidFill>
            <a:srgbClr val="8BB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6419088"/>
            <a:ext cx="8046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FFFFFF"/>
                </a:solidFill>
                <a:latin typeface="Arial"/>
              </a:defRPr>
            </a:pPr>
            <a:r>
              <a:t>S. B. Jain Institute of Technology Management 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65760"/>
            <a:ext cx="167866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00000"/>
                </a:solidFill>
                <a:latin typeface="Arial"/>
              </a:defRPr>
            </a:pPr>
            <a:r>
              <a:rPr sz="2000" dirty="0"/>
              <a:t>4. Flowchart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63240" y="914400"/>
            <a:ext cx="3017520" cy="393192"/>
          </a:xfrm>
          <a:prstGeom prst="roundRect">
            <a:avLst/>
          </a:prstGeom>
          <a:solidFill>
            <a:srgbClr val="E0EFD5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latin typeface="Arial"/>
              </a:defRPr>
            </a:pPr>
            <a:r>
              <a:rPr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63240" y="1417320"/>
            <a:ext cx="3017520" cy="393192"/>
          </a:xfrm>
          <a:prstGeom prst="roundRect">
            <a:avLst/>
          </a:prstGeom>
          <a:solidFill>
            <a:srgbClr val="DDEAF5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latin typeface="Arial"/>
              </a:defRPr>
            </a:pPr>
            <a:r>
              <a:rPr dirty="0">
                <a:solidFill>
                  <a:schemeClr val="tx1"/>
                </a:solidFill>
              </a:rPr>
              <a:t>1. Select Encryption / Decryption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1920240"/>
            <a:ext cx="3017520" cy="393192"/>
          </a:xfrm>
          <a:prstGeom prst="roundRect">
            <a:avLst/>
          </a:prstGeom>
          <a:solidFill>
            <a:srgbClr val="FAF1C2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latin typeface="Arial"/>
              </a:defRPr>
            </a:pPr>
            <a:r>
              <a:rPr dirty="0">
                <a:solidFill>
                  <a:schemeClr val="tx1"/>
                </a:solidFill>
              </a:rPr>
              <a:t>2. Enter File Path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2423160"/>
            <a:ext cx="3017520" cy="393192"/>
          </a:xfrm>
          <a:prstGeom prst="roundRect">
            <a:avLst/>
          </a:prstGeom>
          <a:solidFill>
            <a:srgbClr val="DDEAF5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latin typeface="Arial"/>
              </a:defRPr>
            </a:pPr>
            <a:r>
              <a:rPr dirty="0">
                <a:solidFill>
                  <a:schemeClr val="tx1"/>
                </a:solidFill>
              </a:rPr>
              <a:t>3. Load / Enter Secret Key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3240" y="2926080"/>
            <a:ext cx="3017520" cy="393192"/>
          </a:xfrm>
          <a:prstGeom prst="roundRect">
            <a:avLst/>
          </a:prstGeom>
          <a:solidFill>
            <a:srgbClr val="FAF1C2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latin typeface="Arial"/>
              </a:defRPr>
            </a:pPr>
            <a:r>
              <a:rPr dirty="0">
                <a:solidFill>
                  <a:schemeClr val="tx1"/>
                </a:solidFill>
              </a:rPr>
              <a:t>4. Read File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3240" y="3429000"/>
            <a:ext cx="3017520" cy="393192"/>
          </a:xfrm>
          <a:prstGeom prst="roundRect">
            <a:avLst/>
          </a:prstGeom>
          <a:solidFill>
            <a:srgbClr val="DDEAF5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latin typeface="Arial"/>
              </a:defRPr>
            </a:pPr>
            <a:r>
              <a:rPr dirty="0">
                <a:solidFill>
                  <a:schemeClr val="tx1"/>
                </a:solidFill>
              </a:rPr>
              <a:t>5. Encrypt / Decrypt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63240" y="3931920"/>
            <a:ext cx="3017520" cy="393192"/>
          </a:xfrm>
          <a:prstGeom prst="roundRect">
            <a:avLst/>
          </a:prstGeom>
          <a:solidFill>
            <a:srgbClr val="FAF1C2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latin typeface="Arial"/>
              </a:defRPr>
            </a:pPr>
            <a:r>
              <a:rPr dirty="0">
                <a:solidFill>
                  <a:schemeClr val="tx1"/>
                </a:solidFill>
              </a:rPr>
              <a:t>6. Save Output &amp; Display Result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4434840"/>
            <a:ext cx="3017520" cy="393192"/>
          </a:xfrm>
          <a:prstGeom prst="roundRect">
            <a:avLst/>
          </a:prstGeom>
          <a:solidFill>
            <a:srgbClr val="FADADA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latin typeface="Arial"/>
              </a:defRPr>
            </a:pPr>
            <a:r>
              <a:rPr dirty="0">
                <a:solidFill>
                  <a:schemeClr val="tx1"/>
                </a:solidFill>
              </a:rPr>
              <a:t>END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0" y="1307592"/>
            <a:ext cx="0" cy="109728"/>
          </a:xfrm>
          <a:prstGeom prst="line">
            <a:avLst/>
          </a:prstGeom>
          <a:ln w="127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572000" y="1810512"/>
            <a:ext cx="0" cy="109728"/>
          </a:xfrm>
          <a:prstGeom prst="line">
            <a:avLst/>
          </a:prstGeom>
          <a:ln w="127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572000" y="2313432"/>
            <a:ext cx="0" cy="109728"/>
          </a:xfrm>
          <a:prstGeom prst="line">
            <a:avLst/>
          </a:prstGeom>
          <a:ln w="127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572000" y="2816352"/>
            <a:ext cx="0" cy="109728"/>
          </a:xfrm>
          <a:prstGeom prst="line">
            <a:avLst/>
          </a:prstGeom>
          <a:ln w="127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572000" y="3319272"/>
            <a:ext cx="0" cy="109728"/>
          </a:xfrm>
          <a:prstGeom prst="line">
            <a:avLst/>
          </a:prstGeom>
          <a:ln w="127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572000" y="3822191"/>
            <a:ext cx="0" cy="109729"/>
          </a:xfrm>
          <a:prstGeom prst="line">
            <a:avLst/>
          </a:prstGeom>
          <a:ln w="127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4325112"/>
            <a:ext cx="0" cy="109728"/>
          </a:xfrm>
          <a:prstGeom prst="line">
            <a:avLst/>
          </a:prstGeom>
          <a:ln w="127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6304" y="146304"/>
            <a:ext cx="8851392" cy="6510528"/>
          </a:xfrm>
          <a:prstGeom prst="rect">
            <a:avLst/>
          </a:prstGeom>
          <a:noFill/>
          <a:ln w="8890">
            <a:solidFill>
              <a:srgbClr val="8BB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46304" y="6400800"/>
            <a:ext cx="8851392" cy="256032"/>
          </a:xfrm>
          <a:prstGeom prst="rect">
            <a:avLst/>
          </a:prstGeom>
          <a:solidFill>
            <a:srgbClr val="8BB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6419088"/>
            <a:ext cx="8046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FFFFFF"/>
                </a:solidFill>
                <a:latin typeface="Arial"/>
              </a:defRPr>
            </a:pPr>
            <a:r>
              <a:t>S. B. Jain Institute of Technology Management 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65760"/>
            <a:ext cx="428835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00000"/>
                </a:solidFill>
                <a:latin typeface="Arial"/>
              </a:defRPr>
            </a:pPr>
            <a:r>
              <a:rPr sz="2000" dirty="0"/>
              <a:t>5. Understanding of Python Logic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D3817D-A704-58E1-84CD-15392DB86D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710" y="1514168"/>
            <a:ext cx="6086167" cy="40017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96283-D822-BE33-7106-15D5C8763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026981-E3F5-D1DE-32DF-850FD6191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849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6304" y="146304"/>
            <a:ext cx="8851392" cy="6510528"/>
          </a:xfrm>
          <a:prstGeom prst="rect">
            <a:avLst/>
          </a:prstGeom>
          <a:noFill/>
          <a:ln w="8890">
            <a:solidFill>
              <a:srgbClr val="8BB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46304" y="6400800"/>
            <a:ext cx="8851392" cy="256032"/>
          </a:xfrm>
          <a:prstGeom prst="rect">
            <a:avLst/>
          </a:prstGeom>
          <a:solidFill>
            <a:srgbClr val="8BB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6419088"/>
            <a:ext cx="8046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FFFFFF"/>
                </a:solidFill>
                <a:latin typeface="Arial"/>
              </a:defRPr>
            </a:pPr>
            <a:r>
              <a:t>S. B. Jain Institute of Technology Management 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65760"/>
            <a:ext cx="700685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00000"/>
                </a:solidFill>
                <a:latin typeface="Arial"/>
              </a:defRPr>
            </a:pPr>
            <a:r>
              <a:rPr sz="2400" dirty="0"/>
              <a:t>7. GitHub Account, Repository &amp; Collaboration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99719"/>
            <a:ext cx="7589520" cy="2115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50">
                <a:solidFill>
                  <a:srgbClr val="000000"/>
                </a:solidFill>
                <a:latin typeface="Arial"/>
              </a:defRPr>
            </a:pPr>
            <a:r>
              <a:rPr dirty="0"/>
              <a:t>• Create GitHub Account – Set up a personal GitHub account.</a:t>
            </a:r>
          </a:p>
          <a:p>
            <a:pPr>
              <a:spcAft>
                <a:spcPts val="600"/>
              </a:spcAft>
              <a:defRPr sz="1450">
                <a:solidFill>
                  <a:srgbClr val="000000"/>
                </a:solidFill>
                <a:latin typeface="Arial"/>
              </a:defRPr>
            </a:pPr>
            <a:r>
              <a:rPr dirty="0"/>
              <a:t>• Create Repository – Create a repository named File Encryption Decryption Tool.</a:t>
            </a:r>
          </a:p>
          <a:p>
            <a:pPr>
              <a:spcAft>
                <a:spcPts val="600"/>
              </a:spcAft>
              <a:defRPr sz="1450">
                <a:solidFill>
                  <a:srgbClr val="000000"/>
                </a:solidFill>
                <a:latin typeface="Arial"/>
              </a:defRPr>
            </a:pPr>
            <a:r>
              <a:rPr dirty="0"/>
              <a:t>• Upload Code – Upload the Python source code and project files.</a:t>
            </a:r>
          </a:p>
          <a:p>
            <a:pPr>
              <a:spcAft>
                <a:spcPts val="600"/>
              </a:spcAft>
              <a:defRPr sz="1450">
                <a:solidFill>
                  <a:srgbClr val="000000"/>
                </a:solidFill>
                <a:latin typeface="Arial"/>
              </a:defRPr>
            </a:pPr>
            <a:r>
              <a:rPr dirty="0"/>
              <a:t>• Meaningful Commits – Save changes with clear commit messages.</a:t>
            </a:r>
          </a:p>
          <a:p>
            <a:pPr>
              <a:spcAft>
                <a:spcPts val="600"/>
              </a:spcAft>
              <a:defRPr sz="1450">
                <a:solidFill>
                  <a:srgbClr val="000000"/>
                </a:solidFill>
                <a:latin typeface="Arial"/>
              </a:defRPr>
            </a:pPr>
            <a:r>
              <a:rPr dirty="0"/>
              <a:t>• Collaboration – Share the repository when working as a team.</a:t>
            </a:r>
          </a:p>
          <a:p>
            <a:pPr>
              <a:spcAft>
                <a:spcPts val="600"/>
              </a:spcAft>
              <a:defRPr sz="1450">
                <a:solidFill>
                  <a:srgbClr val="000000"/>
                </a:solidFill>
                <a:latin typeface="Arial"/>
              </a:defRPr>
            </a:pPr>
            <a:r>
              <a:rPr dirty="0"/>
              <a:t>• Individual Contribution – Each member contributes and commits their work.</a:t>
            </a:r>
          </a:p>
          <a:p>
            <a:pPr>
              <a:spcAft>
                <a:spcPts val="600"/>
              </a:spcAft>
              <a:defRPr sz="1450">
                <a:solidFill>
                  <a:srgbClr val="000000"/>
                </a:solidFill>
                <a:latin typeface="Arial"/>
              </a:defRPr>
            </a:pPr>
            <a:r>
              <a:rPr dirty="0"/>
              <a:t>• Track Changes – GitHub helps maintain different versions of the project.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24ADC-E02C-C115-E246-203F8EE44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906692" y="248929"/>
            <a:ext cx="8229600" cy="1143000"/>
          </a:xfrm>
        </p:spPr>
        <p:txBody>
          <a:bodyPr>
            <a:normAutofit/>
          </a:bodyPr>
          <a:lstStyle/>
          <a:p>
            <a:r>
              <a:rPr lang="en-IN" sz="2400" dirty="0"/>
              <a:t>8. Individual contribution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41F21F-73D7-1858-EFB0-60DC838FE0DC}"/>
              </a:ext>
            </a:extLst>
          </p:cNvPr>
          <p:cNvSpPr txBox="1"/>
          <p:nvPr/>
        </p:nvSpPr>
        <p:spPr>
          <a:xfrm>
            <a:off x="727587" y="2413337"/>
            <a:ext cx="647454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Developed the Python file encryption/decryption logic.</a:t>
            </a:r>
          </a:p>
          <a:p>
            <a:pPr lvl="0"/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Worked on file handling and secret-key implementation</a:t>
            </a:r>
          </a:p>
          <a:p>
            <a:pPr lvl="0"/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Tested encryption and decryption. </a:t>
            </a:r>
          </a:p>
          <a:p>
            <a:pPr lvl="0"/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Prepared project documentation and presentation.</a:t>
            </a:r>
          </a:p>
        </p:txBody>
      </p:sp>
    </p:spTree>
    <p:extLst>
      <p:ext uri="{BB962C8B-B14F-4D97-AF65-F5344CB8AC3E}">
        <p14:creationId xmlns:p14="http://schemas.microsoft.com/office/powerpoint/2010/main" val="28340576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6304" y="146304"/>
            <a:ext cx="8851392" cy="6510528"/>
          </a:xfrm>
          <a:prstGeom prst="rect">
            <a:avLst/>
          </a:prstGeom>
          <a:noFill/>
          <a:ln w="8890">
            <a:solidFill>
              <a:srgbClr val="8BB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46304" y="6400800"/>
            <a:ext cx="8851392" cy="256032"/>
          </a:xfrm>
          <a:prstGeom prst="rect">
            <a:avLst/>
          </a:prstGeom>
          <a:solidFill>
            <a:srgbClr val="8BB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6419088"/>
            <a:ext cx="8046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FFFFFF"/>
                </a:solidFill>
                <a:latin typeface="Arial"/>
              </a:defRPr>
            </a:pPr>
            <a:r>
              <a:t>S. B. Jain Institute of Technology Management 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65760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00000"/>
                </a:solidFill>
                <a:latin typeface="Arial"/>
              </a:defRPr>
            </a:pPr>
            <a:r>
              <a:t>10. Result / Expected Output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51560"/>
            <a:ext cx="3886200" cy="4297680"/>
          </a:xfrm>
          <a:prstGeom prst="round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73152" rIns="109728" rtlCol="0" anchor="ctr"/>
          <a:lstStyle/>
          <a:p>
            <a:pPr algn="ctr">
              <a:defRPr sz="1150">
                <a:solidFill>
                  <a:srgbClr val="000000"/>
                </a:solidFill>
                <a:latin typeface="Courier New"/>
              </a:defRPr>
            </a:pPr>
            <a:r>
              <a:rPr sz="1200" b="1" i="1" dirty="0">
                <a:latin typeface="Corbel" panose="020B0503020204020204" pitchFamily="34" charset="0"/>
              </a:rPr>
              <a:t>Input:</a:t>
            </a:r>
            <a:br>
              <a:rPr sz="1200" b="1" i="1" dirty="0">
                <a:latin typeface="Corbel" panose="020B0503020204020204" pitchFamily="34" charset="0"/>
              </a:rPr>
            </a:br>
            <a:r>
              <a:rPr sz="1200" b="1" i="1" dirty="0">
                <a:latin typeface="Corbel" panose="020B0503020204020204" pitchFamily="34" charset="0"/>
              </a:rPr>
              <a:t>document.txt</a:t>
            </a:r>
            <a:br>
              <a:rPr sz="1200" b="1" i="1" dirty="0">
                <a:latin typeface="Corbel" panose="020B0503020204020204" pitchFamily="34" charset="0"/>
              </a:rPr>
            </a:br>
            <a:br>
              <a:rPr sz="1200" b="1" i="1" dirty="0">
                <a:latin typeface="Corbel" panose="020B0503020204020204" pitchFamily="34" charset="0"/>
              </a:rPr>
            </a:br>
            <a:r>
              <a:rPr sz="1200" b="1" i="1" dirty="0">
                <a:latin typeface="Corbel" panose="020B0503020204020204" pitchFamily="34" charset="0"/>
              </a:rPr>
              <a:t>Encryption:</a:t>
            </a:r>
            <a:br>
              <a:rPr sz="1200" b="1" i="1" dirty="0">
                <a:latin typeface="Corbel" panose="020B0503020204020204" pitchFamily="34" charset="0"/>
              </a:rPr>
            </a:br>
            <a:r>
              <a:rPr sz="1200" b="1" i="1" dirty="0">
                <a:latin typeface="Corbel" panose="020B0503020204020204" pitchFamily="34" charset="0"/>
              </a:rPr>
              <a:t>Enter E for Encryption or D for Decryption: E</a:t>
            </a:r>
            <a:br>
              <a:rPr sz="1200" b="1" i="1" dirty="0">
                <a:latin typeface="Corbel" panose="020B0503020204020204" pitchFamily="34" charset="0"/>
              </a:rPr>
            </a:br>
            <a:r>
              <a:rPr sz="1200" b="1" i="1" dirty="0">
                <a:latin typeface="Corbel" panose="020B0503020204020204" pitchFamily="34" charset="0"/>
              </a:rPr>
              <a:t>Enter file name: document.txt</a:t>
            </a:r>
            <a:br>
              <a:rPr sz="1200" b="1" i="1" dirty="0">
                <a:latin typeface="Corbel" panose="020B0503020204020204" pitchFamily="34" charset="0"/>
              </a:rPr>
            </a:br>
            <a:r>
              <a:rPr sz="1200" b="1" i="1" dirty="0">
                <a:latin typeface="Corbel" panose="020B0503020204020204" pitchFamily="34" charset="0"/>
              </a:rPr>
              <a:t>File encrypted successfully.</a:t>
            </a:r>
            <a:br>
              <a:rPr sz="1200" b="1" i="1" dirty="0">
                <a:latin typeface="Corbel" panose="020B0503020204020204" pitchFamily="34" charset="0"/>
              </a:rPr>
            </a:br>
            <a:br>
              <a:rPr sz="1200" b="1" i="1" dirty="0">
                <a:latin typeface="Corbel" panose="020B0503020204020204" pitchFamily="34" charset="0"/>
              </a:rPr>
            </a:br>
            <a:r>
              <a:rPr sz="1200" b="1" i="1" dirty="0">
                <a:latin typeface="Corbel" panose="020B0503020204020204" pitchFamily="34" charset="0"/>
              </a:rPr>
              <a:t>Output:</a:t>
            </a:r>
            <a:br>
              <a:rPr sz="1200" b="1" i="1" dirty="0">
                <a:latin typeface="Corbel" panose="020B0503020204020204" pitchFamily="34" charset="0"/>
              </a:rPr>
            </a:br>
            <a:r>
              <a:rPr sz="1200" b="1" i="1" dirty="0" err="1">
                <a:latin typeface="Corbel" panose="020B0503020204020204" pitchFamily="34" charset="0"/>
              </a:rPr>
              <a:t>document.txt.encrypted</a:t>
            </a:r>
            <a:br>
              <a:rPr sz="1200" b="1" i="1" dirty="0">
                <a:latin typeface="Corbel" panose="020B0503020204020204" pitchFamily="34" charset="0"/>
              </a:rPr>
            </a:br>
            <a:br>
              <a:rPr sz="1200" b="1" i="1" dirty="0">
                <a:latin typeface="Corbel" panose="020B0503020204020204" pitchFamily="34" charset="0"/>
              </a:rPr>
            </a:br>
            <a:r>
              <a:rPr sz="1200" b="1" i="1" dirty="0">
                <a:latin typeface="Corbel" panose="020B0503020204020204" pitchFamily="34" charset="0"/>
              </a:rPr>
              <a:t>Decryption:</a:t>
            </a:r>
            <a:br>
              <a:rPr sz="1200" b="1" i="1" dirty="0">
                <a:latin typeface="Corbel" panose="020B0503020204020204" pitchFamily="34" charset="0"/>
              </a:rPr>
            </a:br>
            <a:r>
              <a:rPr sz="1200" b="1" i="1" dirty="0">
                <a:latin typeface="Corbel" panose="020B0503020204020204" pitchFamily="34" charset="0"/>
              </a:rPr>
              <a:t>Enter E for Encryption or D for Decryption: D</a:t>
            </a:r>
            <a:br>
              <a:rPr sz="1200" b="1" i="1" dirty="0">
                <a:latin typeface="Corbel" panose="020B0503020204020204" pitchFamily="34" charset="0"/>
              </a:rPr>
            </a:br>
            <a:r>
              <a:rPr sz="1200" b="1" i="1" dirty="0">
                <a:latin typeface="Corbel" panose="020B0503020204020204" pitchFamily="34" charset="0"/>
              </a:rPr>
              <a:t>Enter encrypted file name: </a:t>
            </a:r>
            <a:r>
              <a:rPr sz="1200" b="1" i="1" dirty="0" err="1">
                <a:latin typeface="Corbel" panose="020B0503020204020204" pitchFamily="34" charset="0"/>
              </a:rPr>
              <a:t>document.txt.encrypted</a:t>
            </a:r>
            <a:br>
              <a:rPr sz="1200" b="1" i="1" dirty="0">
                <a:latin typeface="Corbel" panose="020B0503020204020204" pitchFamily="34" charset="0"/>
              </a:rPr>
            </a:br>
            <a:r>
              <a:rPr sz="1200" b="1" i="1" dirty="0">
                <a:latin typeface="Corbel" panose="020B0503020204020204" pitchFamily="34" charset="0"/>
              </a:rPr>
              <a:t>File decrypted successfully.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1234440"/>
            <a:ext cx="2011680" cy="502920"/>
          </a:xfrm>
          <a:prstGeom prst="roundRect">
            <a:avLst/>
          </a:prstGeom>
          <a:solidFill>
            <a:srgbClr val="E0EFD5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latin typeface="Arial"/>
              </a:defRPr>
            </a:pPr>
            <a:r>
              <a:rPr dirty="0">
                <a:solidFill>
                  <a:schemeClr val="tx1"/>
                </a:solidFill>
              </a:rPr>
              <a:t>Original File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92240" y="1737360"/>
            <a:ext cx="0" cy="228600"/>
          </a:xfrm>
          <a:prstGeom prst="line">
            <a:avLst/>
          </a:prstGeom>
          <a:ln w="127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0" y="1984248"/>
            <a:ext cx="2011680" cy="502920"/>
          </a:xfrm>
          <a:prstGeom prst="roundRect">
            <a:avLst/>
          </a:prstGeom>
          <a:solidFill>
            <a:srgbClr val="DDEAF5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latin typeface="Arial"/>
              </a:defRPr>
            </a:pPr>
            <a:r>
              <a:rPr dirty="0">
                <a:solidFill>
                  <a:schemeClr val="tx1"/>
                </a:solidFill>
              </a:rPr>
              <a:t>Encryption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92240" y="2487168"/>
            <a:ext cx="0" cy="228600"/>
          </a:xfrm>
          <a:prstGeom prst="line">
            <a:avLst/>
          </a:prstGeom>
          <a:ln w="127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486400" y="2738628"/>
            <a:ext cx="2011680" cy="502920"/>
          </a:xfrm>
          <a:prstGeom prst="roundRect">
            <a:avLst/>
          </a:prstGeom>
          <a:solidFill>
            <a:srgbClr val="FAF1C2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latin typeface="Arial"/>
              </a:defRPr>
            </a:pPr>
            <a:r>
              <a:rPr dirty="0">
                <a:solidFill>
                  <a:schemeClr val="tx1"/>
                </a:solidFill>
              </a:rPr>
              <a:t>Encrypted File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92240" y="3236976"/>
            <a:ext cx="0" cy="228600"/>
          </a:xfrm>
          <a:prstGeom prst="line">
            <a:avLst/>
          </a:prstGeom>
          <a:ln w="127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486400" y="3483864"/>
            <a:ext cx="2011680" cy="502920"/>
          </a:xfrm>
          <a:prstGeom prst="roundRect">
            <a:avLst/>
          </a:prstGeom>
          <a:solidFill>
            <a:srgbClr val="DDEAF5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latin typeface="Arial"/>
              </a:defRPr>
            </a:pPr>
            <a:r>
              <a:rPr dirty="0">
                <a:solidFill>
                  <a:schemeClr val="tx1"/>
                </a:solidFill>
              </a:rPr>
              <a:t>Decryption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92240" y="3986784"/>
            <a:ext cx="0" cy="228600"/>
          </a:xfrm>
          <a:prstGeom prst="line">
            <a:avLst/>
          </a:prstGeom>
          <a:ln w="127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486400" y="4233672"/>
            <a:ext cx="2011680" cy="502920"/>
          </a:xfrm>
          <a:prstGeom prst="roundRect">
            <a:avLst/>
          </a:prstGeom>
          <a:solidFill>
            <a:srgbClr val="E0EFD5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latin typeface="Arial"/>
              </a:defRPr>
            </a:pPr>
            <a:r>
              <a:rPr dirty="0">
                <a:solidFill>
                  <a:schemeClr val="tx1"/>
                </a:solidFill>
              </a:rPr>
              <a:t>Original Restored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78742" y="5617661"/>
            <a:ext cx="3383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latin typeface="Arial"/>
              </a:defRPr>
            </a:pPr>
            <a:r>
              <a:rPr dirty="0"/>
              <a:t>Result: File encryption and decryption are successfully demonstrated using Python.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1E1744E-4DEE-A405-BC62-C80DA1423E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94157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67FF3-73AC-EB17-274D-AD0048A70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</a:t>
            </a:r>
            <a:r>
              <a:rPr lang="en-IN" baseline="30000" dirty="0"/>
              <a:t>nd</a:t>
            </a:r>
            <a:r>
              <a:rPr lang="en-IN" dirty="0"/>
              <a:t> level code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2DDC02-F18D-A57A-7077-67BF16C144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220" y="1686186"/>
            <a:ext cx="8013559" cy="489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2572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0BC6E-7D04-180D-C1C5-0BF2AE4CF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flowchart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80E1F7-D856-1C4B-EBA3-E85009F818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1249" y="1286203"/>
            <a:ext cx="4341501" cy="5412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6858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5E5E2-B6BD-B26D-8AE7-2527071DC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sz="2400" dirty="0"/>
              <a:t>Changes:-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336909-5521-D0E6-7FD6-4EF5405C0C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028" y="1711354"/>
            <a:ext cx="7621075" cy="4293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251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9DF14-C6BD-EC46-1513-974CC145C3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124512" y="108678"/>
            <a:ext cx="7772400" cy="1470025"/>
          </a:xfrm>
        </p:spPr>
        <p:txBody>
          <a:bodyPr>
            <a:normAutofit/>
          </a:bodyPr>
          <a:lstStyle/>
          <a:p>
            <a:r>
              <a:rPr lang="en-IN" sz="3600" dirty="0"/>
              <a:t>Algorithm:-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9C2560-8CF7-58FC-D30B-EF1781DF58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676" y="1501629"/>
            <a:ext cx="7503952" cy="4974671"/>
          </a:xfrm>
        </p:spPr>
        <p:txBody>
          <a:bodyPr>
            <a:normAutofit fontScale="55000" lnSpcReduction="20000"/>
          </a:bodyPr>
          <a:lstStyle/>
          <a:p>
            <a:pPr lvl="0"/>
            <a:r>
              <a:rPr lang="en-IN" dirty="0"/>
              <a:t>Start the program.</a:t>
            </a:r>
          </a:p>
          <a:p>
            <a:pPr lvl="0"/>
            <a:r>
              <a:rPr lang="en-IN" dirty="0"/>
              <a:t>Check whether the secret key file exists.</a:t>
            </a:r>
          </a:p>
          <a:p>
            <a:pPr lvl="0"/>
            <a:r>
              <a:rPr lang="en-IN" dirty="0"/>
              <a:t>If the key does not exist, generate and save a new secret key.</a:t>
            </a:r>
          </a:p>
          <a:p>
            <a:pPr lvl="0"/>
            <a:r>
              <a:rPr lang="en-IN" dirty="0"/>
              <a:t>Load the saved secret key.</a:t>
            </a:r>
          </a:p>
          <a:p>
            <a:pPr lvl="0"/>
            <a:r>
              <a:rPr lang="en-IN" dirty="0"/>
              <a:t>Initialize the Fernet encryption object.</a:t>
            </a:r>
          </a:p>
          <a:p>
            <a:pPr lvl="0"/>
            <a:r>
              <a:rPr lang="en-IN" dirty="0"/>
              <a:t>Display Encryption and Decryption options.</a:t>
            </a:r>
          </a:p>
          <a:p>
            <a:pPr lvl="0"/>
            <a:r>
              <a:rPr lang="en-IN" dirty="0"/>
              <a:t>Ask the user to select an operation and enter the file name.</a:t>
            </a:r>
          </a:p>
          <a:p>
            <a:pPr lvl="0"/>
            <a:r>
              <a:rPr lang="en-IN" dirty="0"/>
              <a:t>If the user selects Encryption:</a:t>
            </a:r>
          </a:p>
          <a:p>
            <a:pPr lvl="1"/>
            <a:r>
              <a:rPr lang="en-IN" dirty="0"/>
              <a:t>Read the input file.</a:t>
            </a:r>
          </a:p>
          <a:p>
            <a:pPr lvl="1"/>
            <a:r>
              <a:rPr lang="en-IN" dirty="0"/>
              <a:t>Encrypt the file data using the secret key.</a:t>
            </a:r>
          </a:p>
          <a:p>
            <a:pPr lvl="1"/>
            <a:r>
              <a:rPr lang="en-IN" dirty="0"/>
              <a:t>Save the encrypted data in a new file.</a:t>
            </a:r>
          </a:p>
          <a:p>
            <a:pPr lvl="0"/>
            <a:r>
              <a:rPr lang="en-IN" dirty="0"/>
              <a:t>If the user selects Decryption:</a:t>
            </a:r>
          </a:p>
          <a:p>
            <a:pPr lvl="1"/>
            <a:r>
              <a:rPr lang="en-IN" dirty="0"/>
              <a:t>Read the encrypted file.</a:t>
            </a:r>
          </a:p>
          <a:p>
            <a:pPr lvl="1"/>
            <a:r>
              <a:rPr lang="en-IN" dirty="0"/>
              <a:t>Decrypt the data using the secret key.</a:t>
            </a:r>
          </a:p>
          <a:p>
            <a:pPr lvl="1"/>
            <a:r>
              <a:rPr lang="en-IN" dirty="0"/>
              <a:t>Save the decrypted data in a new file.</a:t>
            </a:r>
          </a:p>
          <a:p>
            <a:pPr lvl="0"/>
            <a:r>
              <a:rPr lang="en-IN" dirty="0"/>
              <a:t>Display a success message after completion.</a:t>
            </a:r>
          </a:p>
          <a:p>
            <a:pPr lvl="0"/>
            <a:r>
              <a:rPr lang="en-IN" dirty="0"/>
              <a:t>Handle missing files, invalid choices, and decryption errors.</a:t>
            </a:r>
          </a:p>
          <a:p>
            <a:pPr lvl="0"/>
            <a:r>
              <a:rPr lang="en-IN" dirty="0"/>
              <a:t>Stop the program.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17045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1DEB9-3B11-96C6-C43B-2CCF68B6B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flowchart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617326-EF82-10C1-EA82-83F232FA7C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845" y="1417638"/>
            <a:ext cx="6820249" cy="5440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9143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3C34B-5BB0-833B-B8CE-935483B4E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829CFE-1E29-03C8-9BBB-EF0701EF3C09}"/>
              </a:ext>
            </a:extLst>
          </p:cNvPr>
          <p:cNvSpPr txBox="1"/>
          <p:nvPr/>
        </p:nvSpPr>
        <p:spPr>
          <a:xfrm>
            <a:off x="268447" y="1516839"/>
            <a:ext cx="7927597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Successfully developed an improved File Encryption and Decryption Tool using Python.</a:t>
            </a:r>
          </a:p>
          <a:p>
            <a:endParaRPr lang="en-US" sz="1600" dirty="0"/>
          </a:p>
          <a:p>
            <a:r>
              <a:rPr lang="en-US" sz="1600" dirty="0"/>
              <a:t>Implemented automatic secret-key generation and storage.</a:t>
            </a:r>
          </a:p>
          <a:p>
            <a:endParaRPr lang="en-US" sz="1600" dirty="0"/>
          </a:p>
          <a:p>
            <a:r>
              <a:rPr lang="en-US" sz="1600" dirty="0"/>
              <a:t>Added user selection for encryption and decryption operations.</a:t>
            </a:r>
          </a:p>
          <a:p>
            <a:endParaRPr lang="en-US" sz="1600" dirty="0"/>
          </a:p>
          <a:p>
            <a:r>
              <a:rPr lang="en-US" sz="1600" dirty="0"/>
              <a:t>Used the Fernet encryption method to protect file contents.</a:t>
            </a:r>
          </a:p>
          <a:p>
            <a:endParaRPr lang="en-US" sz="1600" dirty="0"/>
          </a:p>
          <a:p>
            <a:r>
              <a:rPr lang="en-US" sz="1600" dirty="0"/>
              <a:t>Implemented separate output files to preserve the original file.</a:t>
            </a:r>
          </a:p>
          <a:p>
            <a:endParaRPr lang="en-US" sz="1600" dirty="0"/>
          </a:p>
          <a:p>
            <a:r>
              <a:rPr lang="en-US" sz="1600" dirty="0"/>
              <a:t>Added error handling for missing files and invalid encrypted data.</a:t>
            </a:r>
          </a:p>
          <a:p>
            <a:endParaRPr lang="en-US" sz="1600" dirty="0"/>
          </a:p>
          <a:p>
            <a:r>
              <a:rPr lang="en-US" sz="1600" dirty="0"/>
              <a:t>Improved understanding of Python functions, file handling, key management, and cryptography.</a:t>
            </a:r>
          </a:p>
          <a:p>
            <a:endParaRPr lang="en-US" sz="1600" dirty="0"/>
          </a:p>
          <a:p>
            <a:r>
              <a:rPr lang="en-US" sz="1600" dirty="0"/>
              <a:t>Future Scope: The project can be extended by adding a graphical user interface, password-based access, and file selection through a browser.</a:t>
            </a:r>
          </a:p>
        </p:txBody>
      </p:sp>
    </p:spTree>
    <p:extLst>
      <p:ext uri="{BB962C8B-B14F-4D97-AF65-F5344CB8AC3E}">
        <p14:creationId xmlns:p14="http://schemas.microsoft.com/office/powerpoint/2010/main" val="3604571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1014</Words>
  <Application>Microsoft Office PowerPoint</Application>
  <PresentationFormat>On-screen Show (4:3)</PresentationFormat>
  <Paragraphs>160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Corbel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8. Individual contribution</vt:lpstr>
      <vt:lpstr>PowerPoint Presentation</vt:lpstr>
      <vt:lpstr>2nd level code </vt:lpstr>
      <vt:lpstr>flowchart</vt:lpstr>
      <vt:lpstr>Changes:-</vt:lpstr>
      <vt:lpstr>Algorithm:-</vt:lpstr>
      <vt:lpstr>flowchart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Mehzabin</dc:creator>
  <cp:keywords/>
  <dc:description>generated using python-pptx</dc:description>
  <cp:lastModifiedBy>Mehzabin Chhaware</cp:lastModifiedBy>
  <cp:revision>5</cp:revision>
  <dcterms:created xsi:type="dcterms:W3CDTF">2013-01-27T09:14:16Z</dcterms:created>
  <dcterms:modified xsi:type="dcterms:W3CDTF">2026-10-13T11:20:03Z</dcterms:modified>
  <cp:category/>
</cp:coreProperties>
</file>